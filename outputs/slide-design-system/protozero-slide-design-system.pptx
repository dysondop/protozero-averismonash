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b845b153304c33" /><Relationship Type="http://schemas.openxmlformats.org/officeDocument/2006/relationships/extended-properties" Target="/docProps/app.xml" Id="R35496b5837774ffc" /><Relationship Type="http://schemas.openxmlformats.org/officeDocument/2006/relationships/officeDocument" Target="/ppt/presentation.xml" Id="R252dcc17e6db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c0d1e68d04504"/>
  </p:sldMasterIdLst>
  <p:notesMasterIdLst>
    <p:notesMasterId xmlns:r="http://schemas.openxmlformats.org/officeDocument/2006/relationships" r:id="R6bf9697feb6d4c21"/>
  </p:notesMasterIdLst>
  <p:sldIdLst>
    <p:sldId xmlns:r="http://schemas.openxmlformats.org/officeDocument/2006/relationships" id="256" r:id="R0d2dbcc6c51045d1"/>
    <p:sldId xmlns:r="http://schemas.openxmlformats.org/officeDocument/2006/relationships" id="257" r:id="R9950948792eb4d05"/>
    <p:sldId xmlns:r="http://schemas.openxmlformats.org/officeDocument/2006/relationships" id="258" r:id="R385f630833d54fd4"/>
    <p:sldId xmlns:r="http://schemas.openxmlformats.org/officeDocument/2006/relationships" id="259" r:id="Rc7fbafd28ad14e48"/>
    <p:sldId xmlns:r="http://schemas.openxmlformats.org/officeDocument/2006/relationships" id="260" r:id="Reff682e8282246b3"/>
    <p:sldId xmlns:r="http://schemas.openxmlformats.org/officeDocument/2006/relationships" id="261" r:id="R18ec458655af4127"/>
    <p:sldId xmlns:r="http://schemas.openxmlformats.org/officeDocument/2006/relationships" id="262" r:id="Rbc2bf7201ce64953"/>
    <p:sldId xmlns:r="http://schemas.openxmlformats.org/officeDocument/2006/relationships" id="263" r:id="Rbbc2acd7dd80410b"/>
    <p:sldId xmlns:r="http://schemas.openxmlformats.org/officeDocument/2006/relationships" id="264" r:id="Rd46cb6f0d31945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a2418d67b4452" /><Relationship Type="http://schemas.openxmlformats.org/officeDocument/2006/relationships/slideMaster" Target="/ppt/slideMasters/slideMaster1.xml" Id="Re34c0d1e68d04504" /><Relationship Type="http://schemas.openxmlformats.org/officeDocument/2006/relationships/notesMaster" Target="/ppt/notesMasters/notesMaster1.xml" Id="R6bf9697feb6d4c21" /><Relationship Type="http://schemas.openxmlformats.org/officeDocument/2006/relationships/presProps" Target="/ppt/presProps.xml" Id="R8e87083519414a40" /><Relationship Type="http://schemas.openxmlformats.org/officeDocument/2006/relationships/tableStyles" Target="/ppt/tableStyles.xml" Id="Re1028cb25ffa418b" /><Relationship Type="http://schemas.openxmlformats.org/officeDocument/2006/relationships/slide" Target="/ppt/slides/slide1.xml" Id="R0d2dbcc6c51045d1" /><Relationship Type="http://schemas.openxmlformats.org/officeDocument/2006/relationships/slide" Target="/ppt/slides/slide2.xml" Id="R9950948792eb4d05" /><Relationship Type="http://schemas.openxmlformats.org/officeDocument/2006/relationships/slide" Target="/ppt/slides/slide3.xml" Id="R385f630833d54fd4" /><Relationship Type="http://schemas.openxmlformats.org/officeDocument/2006/relationships/slide" Target="/ppt/slides/slide4.xml" Id="Rc7fbafd28ad14e48" /><Relationship Type="http://schemas.openxmlformats.org/officeDocument/2006/relationships/slide" Target="/ppt/slides/slide5.xml" Id="Reff682e8282246b3" /><Relationship Type="http://schemas.openxmlformats.org/officeDocument/2006/relationships/slide" Target="/ppt/slides/slide6.xml" Id="R18ec458655af4127" /><Relationship Type="http://schemas.openxmlformats.org/officeDocument/2006/relationships/slide" Target="/ppt/slides/slide7.xml" Id="Rbc2bf7201ce64953" /><Relationship Type="http://schemas.openxmlformats.org/officeDocument/2006/relationships/slide" Target="/ppt/slides/slide8.xml" Id="Rbbc2acd7dd80410b" /><Relationship Type="http://schemas.openxmlformats.org/officeDocument/2006/relationships/slide" Target="/ppt/slides/slide9.xml" Id="Rd46cb6f0d31945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82421001147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9abc9975284c28" /><Relationship Type="http://schemas.openxmlformats.org/officeDocument/2006/relationships/notesMaster" Target="/ppt/notesMasters/notesMaster1.xml" Id="R2534539ec14c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cc34d5985e45c2" /><Relationship Type="http://schemas.openxmlformats.org/officeDocument/2006/relationships/notesMaster" Target="/ppt/notesMasters/notesMaster1.xml" Id="R6876ce50282848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fbc5424e2a435d" /><Relationship Type="http://schemas.openxmlformats.org/officeDocument/2006/relationships/notesMaster" Target="/ppt/notesMasters/notesMaster1.xml" Id="R0cc795232bc5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95e699a3354e33" /><Relationship Type="http://schemas.openxmlformats.org/officeDocument/2006/relationships/notesMaster" Target="/ppt/notesMasters/notesMaster1.xml" Id="Re56e7ea2d5c2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929a53ca6d46dc" /><Relationship Type="http://schemas.openxmlformats.org/officeDocument/2006/relationships/notesMaster" Target="/ppt/notesMasters/notesMaster1.xml" Id="Rdd1733b2a5e4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7915551c74407" /><Relationship Type="http://schemas.openxmlformats.org/officeDocument/2006/relationships/notesMaster" Target="/ppt/notesMasters/notesMaster1.xml" Id="R4df8606d11a341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e5fe6d572d4f97" /><Relationship Type="http://schemas.openxmlformats.org/officeDocument/2006/relationships/notesMaster" Target="/ppt/notesMasters/notesMaster1.xml" Id="R60c33cb40eaf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4ea378f6bc4659" /><Relationship Type="http://schemas.openxmlformats.org/officeDocument/2006/relationships/notesMaster" Target="/ppt/notesMasters/notesMaster1.xml" Id="Rcceec70e23b445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ee89557a674625" /><Relationship Type="http://schemas.openxmlformats.org/officeDocument/2006/relationships/notesMaster" Target="/ppt/notesMasters/notesMaster1.xml" Id="R7b6e96ed1d36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ProtoZero slide design system. Use this deck as a visual reference and duplicate layouts into the hackathon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use the current 520-case ProtoZero register. The bar chart is editable and chart selections in the product drill down to the worklist.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12664850f41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c3b6fa8b24bcd" /><Relationship Type="http://schemas.openxmlformats.org/officeDocument/2006/relationships/slideLayout" Target="/ppt/slideLayouts/slideLayout1.xml" Id="Rca124bfd813b47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124bfd813b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bd120bf9a46a3" /><Relationship Type="http://schemas.openxmlformats.org/officeDocument/2006/relationships/notesSlide" Target="/ppt/notesSlides/notesSlide1.xml" Id="R6f3b7d1e3a1548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284198b1e4e84" /><Relationship Type="http://schemas.openxmlformats.org/officeDocument/2006/relationships/notesSlide" Target="/ppt/notesSlides/notesSlide2.xml" Id="R7223ac8ee34e4e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9851c80f94a77" /><Relationship Type="http://schemas.openxmlformats.org/officeDocument/2006/relationships/notesSlide" Target="/ppt/notesSlides/notesSlide3.xml" Id="Rad6654947df142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19a26368f4568" /><Relationship Type="http://schemas.openxmlformats.org/officeDocument/2006/relationships/notesSlide" Target="/ppt/notesSlides/notesSlide4.xml" Id="R38a34a993a034b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87b7f937e4da1" /><Relationship Type="http://schemas.openxmlformats.org/officeDocument/2006/relationships/notesSlide" Target="/ppt/notesSlides/notesSlide5.xml" Id="R9f150a84299a4a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a4563e5f84f69" /><Relationship Type="http://schemas.openxmlformats.org/officeDocument/2006/relationships/chart" Target="/ppt/slides/charts/chart1.xml" Id="R0f1500a696f14120" /><Relationship Type="http://schemas.openxmlformats.org/officeDocument/2006/relationships/notesSlide" Target="/ppt/notesSlides/notesSlide6.xml" Id="R47b8285766e34c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18aaebe6645c3" /><Relationship Type="http://schemas.openxmlformats.org/officeDocument/2006/relationships/notesSlide" Target="/ppt/notesSlides/notesSlide7.xml" Id="R969a5cb0363943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4d7dc0cb14834" /><Relationship Type="http://schemas.openxmlformats.org/officeDocument/2006/relationships/notesSlide" Target="/ppt/notesSlides/notesSlide8.xml" Id="R981609ef3511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8ccd5bb1e47f8" /><Relationship Type="http://schemas.openxmlformats.org/officeDocument/2006/relationships/notesSlide" Target="/ppt/notesSlides/notesSlide9.xml" Id="Rdf2c6f25cfef44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Cases</c:v>
          </c:tx>
          <c:spPr>
            <a:solidFill xmlns:a="http://schemas.openxmlformats.org/drawingml/2006/main">
              <a:srgbClr val="B83A28"/>
            </a:solidFill>
          </c:spPr>
          <c:cat>
            <c:strRef>
              <c:f>'Chart Data'!$A$2:$A$5</c:f>
              <c:strCache>
                <c:ptCount val="4"/>
                <c:pt idx="0">
                  <c:v>Consignee</c:v>
                </c:pt>
                <c:pt idx="1">
                  <c:v>Notify party</c:v>
                </c:pt>
                <c:pt idx="2">
                  <c:v>Gross weight</c:v>
                </c:pt>
                <c:pt idx="3">
                  <c:v>Port of loading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18</c:v>
                </c:pt>
                <c:pt idx="1">
                  <c:v>14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E2D21-8955-4054-81C3-B56404F6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82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4649D-F226-4828-B95F-E8AC7C6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99072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8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ProtoZer</a:t>
            </a:r>
            <a:r>
              <a:rPr sz="2640" b="1">
                <a:solidFill>
                  <a:srgbClr val="E78823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EA7B7-AD65-46C9-831A-37DC7CA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FB3E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B3E8"/>
                </a:solidFill>
                <a:latin typeface="Arial"/>
                <a:ea typeface="Arial"/>
                <a:cs typeface="Arial"/>
              </a:rPr>
              <a:t>SLIDE DESIGN SYSTEM · 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DF582-D9CA-4AC3-B4D8-A051C0B7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Evidence-first stories</a:t>
            </a:r>
          </a:p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that judges can follow.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E0CA0-9B6A-47D0-8444-6BBBB718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7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0D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BD0D5"/>
                </a:solidFill>
                <a:latin typeface="Arial"/>
                <a:ea typeface="Arial"/>
                <a:cs typeface="Arial"/>
              </a:rPr>
              <a:t>A reusable visual system for product, technical and case-study slides.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71E90-685E-45A8-BA0D-541C0A0C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2743200" cy="33337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2634"/>
          </a:solidFill>
          <a:ln xmlns:a="http://schemas.openxmlformats.org/drawingml/2006/main" w="9525">
            <a:solidFill>
              <a:srgbClr val="3546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CA91F-73EA-4348-9855-8B5761F4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43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FB3E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B3E8"/>
                </a:solidFill>
                <a:latin typeface="Arial"/>
                <a:ea typeface="Arial"/>
                <a:cs typeface="Arial"/>
              </a:rPr>
              <a:t>SYSTEM PROMISE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1BC4B-0C41-46BB-9E71-F0B2F4E0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479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AA85D-C208-438B-B9A1-9F86FCA1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46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BCF8A-EE44-4106-A900-D1DF8D9B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65D97-B7FE-4347-8714-C57E12A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337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465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B9B93-2DEF-40B3-A362-EEDD453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62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BF351-A866-4631-AAEC-1C04A4D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F9BA5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F9BA5"/>
                </a:solidFill>
                <a:latin typeface="Courier New"/>
                <a:ea typeface="Courier New"/>
                <a:cs typeface="Courier New"/>
              </a:rPr>
              <a:t>16:9 · editable · accessible</a:t>
            </a:r>
          </a:p>
        </p:txBody>
      </p:sp>
    </p:spTree>
    <p:extLst>
      <p:ext uri="{BB962C8B-B14F-4D97-AF65-F5344CB8AC3E}">
        <p14:creationId xmlns:p14="http://schemas.microsoft.com/office/powerpoint/2010/main" val="267877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0701F5-3381-45CB-80C6-1EB18CA0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BRAND PRINCIPLES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7F9D-9FB7-4F8F-BF20-AD3BB21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Make the decision understandable in five seconds.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EB8B8-FCCD-41FC-9981-3CE1341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F6D7D-ED8E-4588-BAA8-FE186A1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86FCB-5143-4ACD-8AEA-1A08FD53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37A2-9734-4CA1-9A51-752A2C8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335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Lead with the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18269-0621-4183-B9FF-06AE8AE8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Say what happened before explaining the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C6CFC-46BD-4D8A-9830-64CFCB2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669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99087-63EA-431A-9C81-3C233FA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9D41F-F454-4532-BEF8-B7F6D83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574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Keep the proof attached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C47F9-91FA-48CB-A60B-EC79B7E8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6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Every operational claim points to evidence, a case or a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D35F6-B9C0-4D28-9E77-52CE042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37F9-C882-4ECA-AFD8-26904ED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91336-4FA2-4487-8B0F-E6BD753F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Use status colour literally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EA8C2-03F0-4AFB-B3E4-C0029FC1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24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Orange brands. Red differs. Blue reviews. Green clears.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4951D-5D00-4365-BBF5-CB1CA56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43F03-12CD-45D4-955F-CDD9D50C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F240E-F0B1-49B8-96E4-1231724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Show uncertainty honestly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67E2B-A8FD-48EC-BBDF-51BAD930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Confidence is numeric; fallback mode is explicit.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D27F5-E422-439C-817E-7FCB2678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46101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A3CD5-E5C4-4648-A208-53FC42F6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VOICE EXAMPLE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C3976-8B08-4183-90FB-2BA2DAE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83A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83A28"/>
                </a:solidFill>
                <a:latin typeface="Arial"/>
                <a:ea typeface="Arial"/>
                <a:cs typeface="Arial"/>
              </a:rPr>
              <a:t>Receiver names differ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F6155-875C-4E23-A5E6-56CE620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C5C7B-7DC9-42AA-81CA-EC203BF3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ABC Logistics Sdn Bhd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57545-9C38-42E9-A03C-53A6100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05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BL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EE896-AEE0-4590-8AA3-994F2A15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ABC Logistic Sdn Bhd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A8581-0778-429E-8BCF-A8652BBA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B1B054-4F56-4136-89C3-136E6D5E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338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96%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7BDC1-F56C-48C2-819D-3CC383DC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22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similarity · human confirmation 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1D78A-F7AA-47C8-8B0E-E2BF83FE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2457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6DA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29CC7-7DFB-425A-9B9F-6BB6B68F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6DA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6DAE"/>
                </a:solidFill>
                <a:latin typeface="Arial"/>
                <a:ea typeface="Arial"/>
                <a:cs typeface="Arial"/>
              </a:rPr>
              <a:t>Needs a person</a:t>
            </a:r>
          </a:p>
        </p:txBody>
      </p:sp>
    </p:spTree>
    <p:extLst>
      <p:ext uri="{BB962C8B-B14F-4D97-AF65-F5344CB8AC3E}">
        <p14:creationId xmlns:p14="http://schemas.microsoft.com/office/powerpoint/2010/main" val="215277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E2FC8B-E8E5-4E7C-8961-271764FF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COLOUR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A6D0E-3BB5-44A7-A584-49BA149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Colour separates brand from operational meaning.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3151E-89B2-454F-B631-CEC9B78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6659B-80B1-4E79-A8C9-8543E150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63017-DC62-4EE3-A036-E50B0718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C0A6-9BFA-4D17-88B2-DA9D5F96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EB962-F219-4264-9259-E34B3F8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#101A24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A04D9-ABA3-47C2-8B8F-883A2B21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Primary text / dark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E167A-4F13-45FB-BAB7-187CBB60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AE3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3EC04-5B4C-4B43-8B96-7DF9AC8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24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CB14D-3007-431C-A6AD-4962F81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#EDEAE3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93131-EA61-4CC1-B082-55AB7F7A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Canvas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62666-0ACF-49FC-903B-275F13A1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A5C1C-FA4C-43D5-A5DF-471261B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Sheet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E8894-1129-4D77-813A-66595AF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EBE5B-ABAA-42CE-9BB1-4EC2F5A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Cards /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73CCF-4D42-4C44-B5D7-5B2F15F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8823"/>
          </a:solidFill>
          <a:ln xmlns:a="http://schemas.openxmlformats.org/drawingml/2006/main" w="9525">
            <a:solidFill>
              <a:srgbClr val="E7882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F4052-D65D-4E0C-9A97-8119DC0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Brand orange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A6262-ACB7-4C49-9211-62BDE18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432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#E78823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FF757-209F-4AEE-8EEA-CD511D28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Emphasis /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BDAB9-95E5-4591-95B7-27297E7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06DAE"/>
          </a:solidFill>
          <a:ln xmlns:a="http://schemas.openxmlformats.org/drawingml/2006/main" w="9525">
            <a:solidFill>
              <a:srgbClr val="006DA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C026A-48CF-438C-B3C6-78838E7B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Review blue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EFC51-4C3D-46D3-BD5A-8EDAC271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#006DAE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05F25-D43D-4F61-A8A2-2B9A5061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F2DEA-BBF8-461E-9423-AECE4CB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B83A28"/>
          </a:solidFill>
          <a:ln xmlns:a="http://schemas.openxmlformats.org/drawingml/2006/main" w="9525">
            <a:solidFill>
              <a:srgbClr val="B83A2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566DE-4D68-42F3-B6FF-8BA828D3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Difference 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943AE-2589-4B28-A25C-5315BC2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#B83A28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5B733F-ACF4-46A8-ABC6-EA4B1E2A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0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Confirmed mismatch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9640E9-3AA8-4238-9179-1BF31294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E7D6E"/>
          </a:solidFill>
          <a:ln xmlns:a="http://schemas.openxmlformats.org/drawingml/2006/main" w="9525">
            <a:solidFill>
              <a:srgbClr val="2E7D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2D854-A5E8-4329-9EA3-A658C93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Clear green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AC1B5C-18F0-460B-B690-1CB4294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#2E7D6E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4270D3-1BD1-4E92-99B4-69815A6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Cleared / online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C05DB-00D9-4D80-9DB5-C01094B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5606B"/>
          </a:solidFill>
          <a:ln xmlns:a="http://schemas.openxmlformats.org/drawingml/2006/main" w="9525">
            <a:solidFill>
              <a:srgbClr val="55606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BF46B-81E7-4973-A14D-670D8586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Muted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EA3671-76F5-42CC-881C-B80E886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343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#55606B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261E4B-A695-423D-B866-4E5F8A14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Supporting 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85BC2-FCAF-4E9D-B2DF-07A8E6B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E4CB30-12A7-4D3F-B0C3-29D376D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7882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E78823"/>
                </a:solidFill>
                <a:latin typeface="Courier New"/>
                <a:ea typeface="Courier New"/>
                <a:cs typeface="Courier New"/>
              </a:rPr>
              <a:t>Rule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174C3F-FC96-487E-BDF7-F4F84B3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387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5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Never use orange to mean error. Never use red for decoration. Pair every status colour with a word or shape.</a:t>
            </a:r>
          </a:p>
        </p:txBody>
      </p:sp>
    </p:spTree>
    <p:extLst>
      <p:ext uri="{BB962C8B-B14F-4D97-AF65-F5344CB8AC3E}">
        <p14:creationId xmlns:p14="http://schemas.microsoft.com/office/powerpoint/2010/main" val="103604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E1492-57BD-4CE8-B63E-3D724114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TYPOGRAPHY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E6F03-6670-4A6E-8386-6342BE5F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Typography separates explanation from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3E1C8-73A1-4AD5-B395-F1B4551A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7CF3C-8391-4E93-AB97-A444A08B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50EE9-0703-4FB4-8ACE-B4509DCC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F2A86-97C1-4368-96D6-C78D245A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DISPLAY AND WORKING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999A5-BB03-4632-A31F-6D927E3E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79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Archivo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1FB1B-F4A0-42BE-89AF-C547E135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Use for headlines, explanation and navigation.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47D92-B161-478E-A7B8-6BC98718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30 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3471E-0AFB-4527-BCF2-1AC6BF96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1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Slide title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FF4C9-9C97-4E8D-AA8A-C80A434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18 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A9832-C7F3-4FE2-B8EB-88ED0AE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719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Body copy explains one idea in plain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5EE09-E92D-467B-B18B-0D882EB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13 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0AE47-DFD9-4783-9413-D64974C3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054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CAPTION AND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B0174-EEE2-4989-BB3E-38A254F0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3733800" cy="45529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76476-C417-4B9D-9AA9-EDE1F08B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FB3E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B3E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E97F4-29BC-4D92-B0CC-9AD57E9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193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Azeret Mono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48062-7ECA-4767-91C2-0D1FBC0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575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CASE-20260920-014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88278-78E7-4FC6-ABEA-78920EF3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290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PORT KLANG WEST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17637-D684-424C-A74F-DDA26A5B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4BC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AAB4BC"/>
                </a:solidFill>
                <a:latin typeface="Courier New"/>
                <a:ea typeface="Courier New"/>
                <a:cs typeface="Courier New"/>
              </a:rPr>
              <a:t>SI page 2 · line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4112F-F174-4FD1-A2F9-8B56A0E8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465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30BE8-E969-45E3-B577-ACADF521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6DB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6DBDF"/>
                </a:solidFill>
                <a:latin typeface="Arial"/>
                <a:ea typeface="Arial"/>
                <a:cs typeface="Arial"/>
              </a:rPr>
              <a:t>IDs · values · times · metrics</a:t>
            </a:r>
          </a:p>
        </p:txBody>
      </p:sp>
    </p:spTree>
    <p:extLst>
      <p:ext uri="{BB962C8B-B14F-4D97-AF65-F5344CB8AC3E}">
        <p14:creationId xmlns:p14="http://schemas.microsoft.com/office/powerpoint/2010/main" val="118223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D6BB6-980A-4F17-B544-AC88C6E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GRID AND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5F8AC-C1AC-44E0-8124-74AB5626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Build on a visible rhythm.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53BE9-3768-4750-9567-BCA32E11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E07E0-7B47-4ADD-BC11-6E18A31E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4D875-973A-4E79-AFE1-A172DC3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C25E-E7F3-42E1-B9EA-EF0444B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2B1CC-C4C3-4170-97CB-A5B9532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DA249-4292-42CB-B13D-5BDD3083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10580-DC55-4F73-AA66-30F5B02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05E5A-808B-4B47-B509-C9B9957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97A8C-EEC1-470A-9351-35BB220E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AF5B1-688B-40ED-AD93-F2AF42C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D1E85-F0B1-4B46-9978-CD47B766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C943C-F5A1-480E-BD9D-F16A699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3887F-AB41-42CC-AD7E-CDA8E9E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F521B-6185-4B08-A981-6F28252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621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B098A-0A21-4BE3-A921-645034E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D22C7-FD8E-4852-B0F1-55D44CA0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1BBFB-2503-4434-A22E-CB55DEF2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6DF95-D284-4B6B-B353-8E2598F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0E873-EDFA-4153-BE8A-5E04AF7C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33CC5-44F4-445F-8147-7F630B23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B5DC3-27B8-4CC5-99C9-AD42805C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32DB9-08F8-4076-B646-DAD9CDE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10FCB-3B13-4B57-A62C-5951BB2C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strong statement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03F22-EDA5-4F59-87C6-064E61AB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238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0A3C8-90EB-4617-B3C5-F64FAE3C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NARRATIVE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28BB39-2121-48A2-97F8-EB7486A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64 px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248BE-745D-4F34-829B-E146B2CA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95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safe edge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C762B-99D1-478A-8D2E-47BA428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68199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DA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98E057-D0BD-4493-8F17-94C0E8E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06DA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6DAE"/>
                </a:solidFill>
                <a:latin typeface="Arial"/>
                <a:ea typeface="Arial"/>
                <a:cs typeface="Arial"/>
              </a:rPr>
              <a:t>PRIMARY VISUAL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541FB6-392C-43B4-8B28-3DBE2FF4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Use space to show ownership.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F0D592-3CBF-402D-ADBD-4B1117F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3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12 · 20 · 32 · 48 px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6C3642-7689-43E3-BF8F-F95D0C0A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Avoid equal-weight card grids when one finding matters most.</a:t>
            </a:r>
          </a:p>
        </p:txBody>
      </p:sp>
    </p:spTree>
    <p:extLst>
      <p:ext uri="{BB962C8B-B14F-4D97-AF65-F5344CB8AC3E}">
        <p14:creationId xmlns:p14="http://schemas.microsoft.com/office/powerpoint/2010/main" val="885834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03354-CD79-40AD-A96D-774C83F0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DATA VISUALISATION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FB217-36C2-4F85-94E6-2B835548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Make the finding visible before the legend.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47691-5D5B-4D7F-89FF-74D9478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2AE82-665F-4259-8ACC-C9BBF1A7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58274-26F0-4AA2-80AA-443CFF3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02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70% of document checks clear automatically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9CA3D-6162-47E1-A35F-5DB41917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Use a zero-based editable bar chart for ranked issues.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096000" y="1581150"/>
          <a:ext xmlns:a="http://schemas.openxmlformats.org/drawingml/2006/main" cx="51816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1500a696f1412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7E101-EE18-4DD3-9303-3C3F90B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COMPARISON OUTCOMES · 220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338C5-4068-4B2B-9C7D-765FE9DB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B327F-EC09-4A21-B57D-AA14AFB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24250"/>
            <a:ext cx="1035627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26E4D-9B88-434A-B3B3-AAAA0BD6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327" y="3524250"/>
            <a:ext cx="45027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FEF9F-7BD4-485E-9DFD-9AB602C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E"/>
          </a:solidFill>
          <a:ln xmlns:a="http://schemas.openxmlformats.org/drawingml/2006/main" w="9525">
            <a:solidFill>
              <a:srgbClr val="2E7D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CE064-C8B4-4D28-8C01-0D87DC90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Cleared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9BE0C-9DC5-4B21-98EE-C7CFA133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154 ·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91C93-0CB1-411D-A1EF-DCED21C2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28"/>
          </a:solidFill>
          <a:ln xmlns:a="http://schemas.openxmlformats.org/drawingml/2006/main" w="9525">
            <a:solidFill>
              <a:srgbClr val="B83A2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B3CBA-AB95-422B-A37E-8412BFDF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Differences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E6F2A-965E-4BC2-BC8E-F4C9A53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46 · 21%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7E01E-90A9-4123-ACB6-C03B375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AE"/>
          </a:solidFill>
          <a:ln xmlns:a="http://schemas.openxmlformats.org/drawingml/2006/main" w="9525">
            <a:solidFill>
              <a:srgbClr val="006D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E2772-2E45-4F5D-8A09-D6D5B6E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A146F-79CB-4756-8FD1-FC54184E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20 · 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DD706-DA19-4DF9-ADC0-F0D8F10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05400"/>
            <a:ext cx="5181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6DA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AE5C1-7F20-44D6-9EBC-D79DEDAC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05425"/>
            <a:ext cx="445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97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06DA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6DAE"/>
                </a:solidFill>
                <a:latin typeface="Arial"/>
                <a:ea typeface="Arial"/>
                <a:cs typeface="Arial"/>
              </a:rPr>
              <a:t>Every chart should answer: what should I inspect next?</a:t>
            </a:r>
          </a:p>
        </p:txBody>
      </p:sp>
    </p:spTree>
    <p:extLst>
      <p:ext uri="{BB962C8B-B14F-4D97-AF65-F5344CB8AC3E}">
        <p14:creationId xmlns:p14="http://schemas.microsoft.com/office/powerpoint/2010/main" val="928583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C2EAF-7FDF-4D86-ABCF-80D5C54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STATUS AND CONFIDENCE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FCFF5-6558-46AF-9D61-A8E3A1A8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Status is a shape, a word and a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FACE3-594C-4EA3-B7E3-7ED4A932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37084-74D0-4092-A5CE-FB3B37D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0B290-8203-402B-8485-46944E23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7627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7CC26-31A3-458F-801B-3D3C0BFC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E"/>
          </a:solidFill>
          <a:ln xmlns:a="http://schemas.openxmlformats.org/drawingml/2006/main" w="9525">
            <a:solidFill>
              <a:srgbClr val="2E7D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E3A6A-897E-4C77-916E-70E5573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Cleared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F258D-DDF1-4BB2-8082-B914AED6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No material differences found.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71306-53B9-4BEE-A7C9-AFDE0E6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28"/>
          </a:solidFill>
          <a:ln xmlns:a="http://schemas.openxmlformats.org/drawingml/2006/main" w="9525">
            <a:solidFill>
              <a:srgbClr val="B83A2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E1229-7EF7-4582-BF3D-D8E105C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Difference 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CEA12-E0CF-4239-8698-DB825A8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A deterministic comparison failed.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318C9-7FAF-4BC7-AF1A-B5F755F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AE"/>
          </a:solidFill>
          <a:ln xmlns:a="http://schemas.openxmlformats.org/drawingml/2006/main" w="9525">
            <a:solidFill>
              <a:srgbClr val="006D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FE64E-0C29-483B-A455-A2A4057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Needs a 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99331-AB3C-4B0D-9C22-7C4CC5A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Evidence or certainty requires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E5557-DF9A-43E4-AAEE-91BAB7BD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60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A244B-1F22-4A3D-A64A-3EA0BBA2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F7704-F78D-453A-9C5F-2CCC3A3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673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Not a document-comparison email.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45501-B313-40F3-A158-C08A473E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5623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C869E-B43A-4D8B-A4FF-2B45BE88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FB3E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B3E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A2519-6DFE-484D-B9C0-90BD9F6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43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94%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F542B-64B8-4F13-A318-162D3C80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BD0D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D0D5"/>
                </a:solidFill>
                <a:latin typeface="Arial"/>
                <a:ea typeface="Arial"/>
                <a:cs typeface="Arial"/>
              </a:rPr>
              <a:t>classification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61BB3-BC33-4113-93BF-688F29D2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E788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220CF-BF35-4AD9-AF83-E8DAE6AC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8A4B0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A4B0A"/>
                </a:solidFill>
                <a:latin typeface="Arial"/>
                <a:ea typeface="Arial"/>
                <a:cs typeface="Arial"/>
              </a:rPr>
              <a:t>SYSTEM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F580B-D859-4D81-B84B-964050C4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8A4B0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A4B0A"/>
                </a:solidFill>
                <a:latin typeface="Arial"/>
                <a:ea typeface="Arial"/>
                <a:cs typeface="Arial"/>
              </a:rPr>
              <a:t>Deterministic-only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373D0-0E9C-45F8-B4AC-189CFDD5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AI services paused. Core rules, comparison and audit logging remain online.</a:t>
            </a:r>
          </a:p>
        </p:txBody>
      </p:sp>
    </p:spTree>
    <p:extLst>
      <p:ext uri="{BB962C8B-B14F-4D97-AF65-F5344CB8AC3E}">
        <p14:creationId xmlns:p14="http://schemas.microsoft.com/office/powerpoint/2010/main" val="1421071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1B848-C76C-448A-B332-64BC392A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EVIDENCE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56556-C2AC-40EE-B167-B9709F4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Show the exact evidence, side by side.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2D98A-188F-4BE0-A33F-5D132255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33FB-451D-4038-8E28-EF189D0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7C85E-B691-4685-AA39-5446BE6A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83A2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9A009-405E-4B5C-ACC9-DECA1F82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3A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83A28"/>
                </a:solidFill>
                <a:latin typeface="Arial"/>
                <a:ea typeface="Arial"/>
                <a:cs typeface="Arial"/>
              </a:rPr>
              <a:t>Consignee names differ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AD074-568A-41EA-9289-717E9001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0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83A28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B83A28"/>
                </a:solidFill>
                <a:latin typeface="Courier New"/>
                <a:ea typeface="Courier New"/>
                <a:cs typeface="Courier New"/>
              </a:rPr>
              <a:t>96% similarity · requires human confirmation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DE631-44CC-4F82-B33F-10694190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3721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1A390-A2A9-4759-961F-413F2C3A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SHIPPING INSTRUCTION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0056C-321F-4A16-A97B-2B7C1751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CONSIGNEE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38DED-B019-4429-B51E-45D4B06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68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ABC Logistics Sdn Bhd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051FE-A388-4634-9D81-DDA72A40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2590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C6E5-AFC2-4F4A-99D4-75FBCC53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SI page 2 · line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92404-6662-4729-9B50-AB8ACF5B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3721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3A2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A9C9A-66E2-4029-B0F8-A6324E40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83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3A28"/>
                </a:solidFill>
                <a:latin typeface="Arial"/>
                <a:ea typeface="Arial"/>
                <a:cs typeface="Arial"/>
              </a:rPr>
              <a:t>BILL OF LADING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C03CB-FFE7-4ED3-BDB0-AD52730D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CONSIGNEE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1D85B-4995-494C-A997-97544CF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468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B83A28"/>
                </a:solidFill>
                <a:latin typeface="Courier New"/>
                <a:ea typeface="Courier New"/>
                <a:cs typeface="Courier New"/>
              </a:rPr>
              <a:t>ABC Logistic Sdn Bhd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5156D-A7D1-4F38-BDEB-F00D9E8C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23526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5A99E-3BBE-452D-9326-79D05A7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BL page 1 · line 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9AF81-8643-496B-8C89-052E5221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Conclusion above. Original text aligned. Location always visible.</a:t>
            </a:r>
          </a:p>
        </p:txBody>
      </p:sp>
    </p:spTree>
    <p:extLst>
      <p:ext uri="{BB962C8B-B14F-4D97-AF65-F5344CB8AC3E}">
        <p14:creationId xmlns:p14="http://schemas.microsoft.com/office/powerpoint/2010/main" val="1075945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DEA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CC8A58-9267-40E1-AE14-33FCCB2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SLIDE RECIPES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F9B20-3C7B-41FA-8F78-00271B29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Choose a layout by the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30481-5DCB-4DC3-B31B-F454D443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14419-AEFB-41B1-90F0-C886846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6291F-0C0C-408A-AC65-545D961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6DA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5BA58-9967-4D42-899B-17D07A45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43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What changed?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8E7C0-669D-495F-AE5D-11C1C3A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Insight + editable chart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9F4B1-A830-4465-8A5A-25A0502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90675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B797-872F-4108-89CE-193B442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1925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Core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7BB53-D736-451C-A7F9-B9E1A847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2AC3A-7CF3-4109-A0E0-04AFC481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83A28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B83A2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9482B-F111-4E9F-9BBA-2CD1C546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62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Why was it flagged?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5A047-CC18-4D47-9F12-44BB701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907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Evidence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CC57F-43DE-4147-85DA-E36EC039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9825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DAD84-1B66-49C2-8D0D-37A4EB8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3840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Core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39149-AED1-47D2-835A-70052D6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063FD-937E-408B-A464-7E6E998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A2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01A2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49D20-2470-4168-96AF-48552005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How does it work?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2BA9B-A282-4F83-951D-F9AA35C7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99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Five-stage directional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D546B-6905-4C91-ACCD-72876CB6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28975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330FD-F8A0-4652-949F-9E111D22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5755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Core pattern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4E691-559B-4D48-A948-5794CE17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95961-007B-47C8-A9B2-47C7E79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E7D6E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2E7D6E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4FE8B-9D7E-4F64-813D-21C4857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Can we trust it?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E9ADB-C1A6-44B4-83CB-AD47392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Health + audit 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8CA1E-4842-497F-9217-38307DBE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41ADB-E5C8-4491-97D7-7092C923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7670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Support pattern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9C6C7-7579-46C7-8835-08C6058E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26B03-B98B-4147-8E1A-EA8C5B6F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78823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E78823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C3BB9-EE01-45D6-B3FE-ED5BD60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A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A24"/>
                </a:solidFill>
                <a:latin typeface="Arial"/>
                <a:ea typeface="Arial"/>
                <a:cs typeface="Arial"/>
              </a:rPr>
              <a:t>What should happen next?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E0138-E319-4C29-A51B-B5212D8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560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606B"/>
                </a:solidFill>
                <a:latin typeface="Arial"/>
                <a:ea typeface="Arial"/>
                <a:cs typeface="Arial"/>
              </a:rPr>
              <a:t>Three proof points + one 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7F80A-93C9-442B-8F80-A8DF7F2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67275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00CEEF-878B-46CB-976B-E6225C3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9585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55606B"/>
                </a:solidFill>
                <a:latin typeface="Courier New"/>
                <a:ea typeface="Courier New"/>
                <a:cs typeface="Courier New"/>
              </a:rPr>
              <a:t>Support pattern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5CB152-4C17-4759-8282-DCB62BB5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D4AFB-2C68-4E27-A364-4759A5B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claim · visible proof · clear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BDB84-B39F-4EFA-8F52-2492F203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1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BD0D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BD0D5"/>
                </a:solidFill>
                <a:latin typeface="Arial"/>
                <a:ea typeface="Arial"/>
                <a:cs typeface="Arial"/>
              </a:rPr>
              <a:t>Duplicate, adapt, then verify the rendered slide.</a:t>
            </a:r>
          </a:p>
        </p:txBody>
      </p:sp>
    </p:spTree>
    <p:extLst>
      <p:ext uri="{BB962C8B-B14F-4D97-AF65-F5344CB8AC3E}">
        <p14:creationId xmlns:p14="http://schemas.microsoft.com/office/powerpoint/2010/main" val="1356542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2026-09-21T11:13:25.2380000Z</dcterms:created>
  <dcterms:modified xsi:type="dcterms:W3CDTF">2026-09-21T11:13:25.2380000Z</dcterms:modified>
</coreProperties>
</file>